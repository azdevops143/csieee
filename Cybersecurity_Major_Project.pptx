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22860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 algn="l">
              <a:spcAft>
                <a:spcPts val="2000"/>
              </a:spcAft>
              <a:defRPr sz="3600" b="1">
                <a:solidFill>
                  <a:srgbClr val="F8FAFC"/>
                </a:solidFill>
                <a:latin typeface="Calibri"/>
              </a:defRPr>
            </a:pPr>
            <a:r>
              <a:t>Side-Channel Keystroke Leakage and Context-Aware Defense in AR/VR Environments</a:t>
            </a:r>
          </a:p>
          <a:p>
            <a:pPr algn="l">
              <a:spcAft>
                <a:spcPts val="4000"/>
              </a:spcAft>
              <a:defRPr sz="1800">
                <a:solidFill>
                  <a:srgbClr val="38BDF8"/>
                </a:solidFill>
                <a:latin typeface="Calibri"/>
              </a:defRPr>
            </a:pPr>
            <a:r>
              <a:t>Analysis of the SNOOPFINGER Attack and the CASOM Defense Framework</a:t>
            </a:r>
          </a:p>
          <a:p>
            <a:pPr algn="l">
              <a:defRPr sz="1300">
                <a:solidFill>
                  <a:srgbClr val="94A3B8"/>
                </a:solidFill>
                <a:latin typeface="Calibri"/>
              </a:defRPr>
            </a:pPr>
            <a:r>
              <a:t>CSL6010-Cybersecurity Major Project Submission</a:t>
            </a:r>
            <a:br/>
            <a:r>
              <a:t>Prepared by: Graduate Student Analysis Team</a:t>
            </a:r>
            <a:br/>
            <a:r>
              <a:t>Repository: https://github.com/AzDevops143/CSIEEE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The Side-Channel Threat: SNOOPFINGER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Attack Definition: </a:t>
            </a:r>
            <a:r>
              <a:rPr sz="1800" b="0">
                <a:solidFill>
                  <a:srgbClr val="F8FAFC"/>
                </a:solidFill>
                <a:latin typeface="Calibri"/>
              </a:rPr>
              <a:t>SNOOPFINGER is a cross-modality side-channel attack targeting head-mounted displays in VR/AR environments.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Vulnerability Surface: </a:t>
            </a:r>
            <a:r>
              <a:rPr sz="1800" b="0">
                <a:solidFill>
                  <a:srgbClr val="F8FAFC"/>
                </a:solidFill>
                <a:latin typeface="Calibri"/>
              </a:rPr>
              <a:t>APIs treat head-movement orientation (quaternions) as zero-permission sensors, broadcasting it to all background threads.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Exploitation Vector: </a:t>
            </a:r>
            <a:r>
              <a:rPr sz="1800" b="0">
                <a:solidFill>
                  <a:srgbClr val="F8FAFC"/>
                </a:solidFill>
                <a:latin typeface="Calibri"/>
              </a:rPr>
              <a:t>When users type on virtual keyboards, they make natural micro-pauses (dwell times) to visually target and confirm keys.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Mechanism: </a:t>
            </a:r>
            <a:r>
              <a:rPr sz="1800" b="0">
                <a:solidFill>
                  <a:srgbClr val="F8FAFC"/>
                </a:solidFill>
                <a:latin typeface="Calibri"/>
              </a:rPr>
              <a:t>Background processes reconstruct typed text by converting 3D head rotation into 2D gaze points and clustering them temporally.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43F5E"/>
                </a:solidFill>
                <a:latin typeface="Calibri"/>
              </a:rPr>
              <a:t>Impact: </a:t>
            </a:r>
            <a:r>
              <a:rPr sz="1800" b="0">
                <a:solidFill>
                  <a:srgbClr val="F43F5E"/>
                </a:solidFill>
                <a:latin typeface="Calibri"/>
              </a:rPr>
              <a:t>Requires no camera access or high privileges, allowing standard apps to steal passwords and pins.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Mathematical Modeling: 3D to 2D Gaze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4114800" cy="35661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Coordinate Conversion: </a:t>
            </a:r>
            <a:r>
              <a:rPr sz="1600" b="0">
                <a:solidFill>
                  <a:srgbClr val="F8FAFC"/>
                </a:solidFill>
                <a:latin typeface="Calibri"/>
              </a:rPr>
              <a:t>Converts raw headset orientation tracking (w, x, y, z) into Euler angles (Pitch and Yaw) to estimate looking directions.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2D Projection: </a:t>
            </a:r>
            <a:r>
              <a:rPr sz="1600" b="0">
                <a:solidFill>
                  <a:srgbClr val="F8FAFC"/>
                </a:solidFill>
                <a:latin typeface="Calibri"/>
              </a:rPr>
              <a:t>Maps the 3D gaze vector onto the 2D plane of the virtual keyboard via an equirectangular coordinate projection.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Tremor Simulation: </a:t>
            </a:r>
            <a:r>
              <a:rPr sz="1600" b="0">
                <a:solidFill>
                  <a:srgbClr val="F8FAFC"/>
                </a:solidFill>
                <a:latin typeface="Calibri"/>
              </a:rPr>
              <a:t>Models natural gaze jitter using Gaussian distribution centered at key targets:</a:t>
            </a:r>
          </a:p>
          <a:p>
            <a:pPr lvl="1">
              <a:spcAft>
                <a:spcPts val="10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x ~ N(x_key, sigma^2), where sigma = 0.03 cm represents human target tremor.</a:t>
            </a:r>
          </a:p>
        </p:txBody>
      </p:sp>
      <p:pic>
        <p:nvPicPr>
          <p:cNvPr id="4" name="Picture 3" descr="math_p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45920"/>
            <a:ext cx="3749039" cy="868334"/>
          </a:xfrm>
          <a:prstGeom prst="rect">
            <a:avLst/>
          </a:prstGeom>
        </p:spPr>
      </p:pic>
      <p:pic>
        <p:nvPicPr>
          <p:cNvPr id="5" name="Picture 4" descr="math_y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926080"/>
            <a:ext cx="3749039" cy="868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Identified Gaps &amp; Defense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Abstract Proposal Gap: </a:t>
            </a:r>
            <a:r>
              <a:rPr sz="1800" b="0">
                <a:solidFill>
                  <a:srgbClr val="F8FAFC"/>
                </a:solidFill>
                <a:latin typeface="Calibri"/>
              </a:rPr>
              <a:t>The SNOOPFINGER IEEE paper discusses countermeasures (e.g. Obfuscation) but provides no implementation code or API design.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Utility Degradation: </a:t>
            </a:r>
            <a:r>
              <a:rPr sz="1800" b="0">
                <a:solidFill>
                  <a:srgbClr val="F8FAFC"/>
                </a:solidFill>
                <a:latin typeface="Calibri"/>
              </a:rPr>
              <a:t>Adding simple independent random noise per frame degrades coordinate utility for background games/apps without stopping attackers.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Evaluation Deficit: </a:t>
            </a:r>
            <a:r>
              <a:rPr sz="1800" b="0">
                <a:solidFill>
                  <a:srgbClr val="F8FAFC"/>
                </a:solidFill>
                <a:latin typeface="Calibri"/>
              </a:rPr>
              <a:t>The paper assumes simple attackers. It does not evaluate defenses against adaptive adversaries or geometric attacks like BackTree.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43F5E"/>
                </a:solidFill>
                <a:latin typeface="Calibri"/>
              </a:rPr>
              <a:t>Usability Conflict: </a:t>
            </a:r>
            <a:r>
              <a:rPr sz="1800" b="0">
                <a:solidFill>
                  <a:srgbClr val="F43F5E"/>
                </a:solidFill>
                <a:latin typeface="Calibri"/>
              </a:rPr>
              <a:t>Virtual keyboard typing detection must be context-aware; static noise injection would break normal AR/VR head tracking gestures.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The 'Toy Attacker' Trap: Why IID Noise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4572000" cy="35661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IID Noise Method: </a:t>
            </a:r>
            <a:r>
              <a:rPr sz="1600" b="0">
                <a:solidFill>
                  <a:srgbClr val="F8FAFC"/>
                </a:solidFill>
                <a:latin typeface="Calibri"/>
              </a:rPr>
              <a:t>Adds independent zero-mean Laplace noise to each sample. Points appear scattered on raw plots.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Adaptive Counter-Strategy: </a:t>
            </a:r>
            <a:r>
              <a:rPr sz="1600" b="0">
                <a:solidFill>
                  <a:srgbClr val="F8FAFC"/>
                </a:solidFill>
                <a:latin typeface="Calibri"/>
              </a:rPr>
              <a:t>Since user dwell holds ~15-35 frames, the attacker segments by dwell and averages coordinates.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Noise Cancellation: </a:t>
            </a:r>
            <a:r>
              <a:rPr sz="1600" b="0">
                <a:solidFill>
                  <a:srgbClr val="F8FAFC"/>
                </a:solidFill>
                <a:latin typeface="Calibri"/>
              </a:rPr>
              <a:t>By the Law of Large Numbers, independent zero-mean noise cancels out and averages back to zero.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43F5E"/>
                </a:solidFill>
                <a:latin typeface="Calibri"/>
              </a:rPr>
              <a:t>Performance: </a:t>
            </a:r>
            <a:r>
              <a:rPr sz="1600" b="0">
                <a:solidFill>
                  <a:srgbClr val="F43F5E"/>
                </a:solidFill>
                <a:latin typeface="Calibri"/>
              </a:rPr>
              <a:t>Evaluated in our benchmark: drops naive attacker to 11% but fails against adaptive attacker (51% Top-1 character leak).</a:t>
            </a:r>
          </a:p>
        </p:txBody>
      </p:sp>
      <p:pic>
        <p:nvPicPr>
          <p:cNvPr id="4" name="Picture 3" descr="math_expec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011680"/>
            <a:ext cx="3474720" cy="7318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Proposed Solution: CASOM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OS-Level Interceptor: </a:t>
            </a:r>
            <a:r>
              <a:rPr sz="1800" b="0">
                <a:solidFill>
                  <a:srgbClr val="F8FAFC"/>
                </a:solidFill>
                <a:latin typeface="Calibri"/>
              </a:rPr>
              <a:t>Context-Aware Sensor Obfuscation Middleware running inside the OS sensor framework boundary.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Context Awareness: </a:t>
            </a:r>
            <a:r>
              <a:rPr sz="1800" b="0">
                <a:solidFill>
                  <a:srgbClr val="F8FAFC"/>
                </a:solidFill>
                <a:latin typeface="Calibri"/>
              </a:rPr>
              <a:t>Detects keyboard events and focus states to dynamically trigger protection without breaking standard gestures.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Stream Bifurcation: </a:t>
            </a:r>
            <a:r>
              <a:rPr sz="1800" b="0">
                <a:solidFill>
                  <a:srgbClr val="F8FAFC"/>
                </a:solidFill>
                <a:latin typeface="Calibri"/>
              </a:rPr>
              <a:t>Bifurcates raw tracking coordinates into separate foreground and background streams.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Foreground Stream: </a:t>
            </a:r>
            <a:r>
              <a:rPr sz="1800" b="0">
                <a:solidFill>
                  <a:srgbClr val="10B981"/>
                </a:solidFill>
                <a:latin typeface="Calibri"/>
              </a:rPr>
              <a:t>Legitimate Virtual Keyboard receives clean, high-precision telemetry, ensuring 100% typing accuracy and zero UX lag.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43F5E"/>
                </a:solidFill>
                <a:latin typeface="Calibri"/>
              </a:rPr>
              <a:t>Background Stream: </a:t>
            </a:r>
            <a:r>
              <a:rPr sz="1800" b="0">
                <a:solidFill>
                  <a:srgbClr val="F43F5E"/>
                </a:solidFill>
                <a:latin typeface="Calibri"/>
              </a:rPr>
              <a:t>Background processes receive mathematically obfuscated streams, stripping them of high-fidelity spatial telemetry.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CASOM v2: Surviving the BackTree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BackTree Adversary: </a:t>
            </a:r>
            <a:r>
              <a:rPr sz="1800" b="0">
                <a:solidFill>
                  <a:srgbClr val="F8FAFC"/>
                </a:solidFill>
                <a:latin typeface="Calibri"/>
              </a:rPr>
              <a:t>The BackTree attack (SNOOPFINGER paper section 5.6) maps relative geometry vectors between keypress centroids, bypassing simple drift.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Drift Failure: </a:t>
            </a:r>
            <a:r>
              <a:rPr sz="1800" b="0">
                <a:solidFill>
                  <a:srgbClr val="F8FAFC"/>
                </a:solidFill>
                <a:latin typeface="Calibri"/>
              </a:rPr>
              <a:t>A slow coordinate bias drift shifts consecutive centroids in the same direction, preserving relative vectors and letting BackTree succeed.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Block Offset Defense (Recommended): </a:t>
            </a:r>
            <a:r>
              <a:rPr sz="1800" b="0">
                <a:solidFill>
                  <a:srgbClr val="10B981"/>
                </a:solidFill>
                <a:latin typeface="Calibri"/>
              </a:rPr>
              <a:t>A Laplace noise offset is generated once per block of 15 samples (~dwell length) and held constant during the block.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Disruption Mechanism: </a:t>
            </a:r>
            <a:r>
              <a:rPr sz="1800" b="0">
                <a:solidFill>
                  <a:srgbClr val="F8FAFC"/>
                </a:solidFill>
                <a:latin typeface="Calibri"/>
              </a:rPr>
              <a:t>Because noise changes per block, it shifts each key centroid independently, breaking relative vectors and surviving dwell averages.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Deployment Advantage: </a:t>
            </a:r>
            <a:r>
              <a:rPr sz="1800" b="0">
                <a:solidFill>
                  <a:srgbClr val="F8FAFC"/>
                </a:solidFill>
                <a:latin typeface="Calibri"/>
              </a:rPr>
              <a:t>Does not require precise typing boundaries, making it highly deployable via standard timers.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Empirical Results: Word-Level Evaluation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28738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Defense Mode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Word Top-1 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Word Top-3 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Word Top-10 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No Defense (Baseline)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43F5E"/>
                          </a:solidFill>
                          <a:latin typeface="Calibri"/>
                        </a:defRPr>
                      </a:pPr>
                      <a:r>
                        <a:t>80.9%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43F5E"/>
                          </a:solidFill>
                          <a:latin typeface="Calibri"/>
                        </a:defRPr>
                      </a:pPr>
                      <a:r>
                        <a:t>80.9%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43F5E"/>
                          </a:solidFill>
                          <a:latin typeface="Calibri"/>
                        </a:defRPr>
                      </a:pPr>
                      <a:r>
                        <a:t>80.9%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IID Noise (Original)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35.8%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51.8%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62.9%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Correlated Drift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27.6%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42.1%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52.7%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Downsample &amp; Quantize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2.3%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5.6%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8.9%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Block Offset (CASOM)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3.6%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7.0%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13.6%</a:t>
                      </a:r>
                    </a:p>
                  </a:txBody>
                  <a:tcPr>
                    <a:solidFill>
                      <a:srgbClr val="161E31"/>
                    </a:solidFill>
                  </a:tcPr>
                </a:tc>
              </a:tr>
              <a:tr h="28738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Per-Keypress Offset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2.3%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3.8%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  <a:latin typeface="Calibri"/>
                        </a:defRPr>
                      </a:pPr>
                      <a:r>
                        <a:t>7.6%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74720"/>
            <a:ext cx="8046720" cy="13716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Key Takeaway: </a:t>
            </a:r>
            <a:r>
              <a:rPr sz="1400" b="0">
                <a:solidFill>
                  <a:srgbClr val="F8FAFC"/>
                </a:solidFill>
                <a:latin typeface="Calibri"/>
              </a:rPr>
              <a:t>The recommended Block Offset defense collapses Top-1 accuracy to 3.6% (near chance for 8k dictionary).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Drift Deficit: </a:t>
            </a:r>
            <a:r>
              <a:rPr sz="1400" b="0">
                <a:solidFill>
                  <a:srgbClr val="F8FAFC"/>
                </a:solidFill>
                <a:latin typeface="Calibri"/>
              </a:rPr>
              <a:t> drift fails to defend against BackTree because vectors survive, leaving Top-1 at 27.6%.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IID Deficit: </a:t>
            </a:r>
            <a:r>
              <a:rPr sz="1400" b="0">
                <a:solidFill>
                  <a:srgbClr val="F8FAFC"/>
                </a:solidFill>
                <a:latin typeface="Calibri"/>
              </a:rPr>
              <a:t>IID Noise averages out, leaving a significant Top-10 leak of 62.9%.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Empirical Validation 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4114800" cy="356616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Telemetry Plots: </a:t>
            </a:r>
            <a:r>
              <a:rPr sz="1600" b="0">
                <a:solidFill>
                  <a:srgbClr val="F8FAFC"/>
                </a:solidFill>
                <a:latin typeface="Calibri"/>
              </a:rPr>
              <a:t>Includes a character-level simulation dashboard and word-level evaluation plots.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Visual Scatter: </a:t>
            </a:r>
            <a:r>
              <a:rPr sz="1600" b="0">
                <a:solidFill>
                  <a:srgbClr val="F8FAFC"/>
                </a:solidFill>
                <a:latin typeface="Calibri"/>
              </a:rPr>
              <a:t>Left Panel (simulation_result.png) demonstrates visual scatter. Dwell clusters are completely dispersed.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BackTree Results: </a:t>
            </a:r>
            <a:r>
              <a:rPr sz="1600" b="0">
                <a:solidFill>
                  <a:srgbClr val="F8FAFC"/>
                </a:solidFill>
                <a:latin typeface="Calibri"/>
              </a:rPr>
              <a:t>Right Panel (backtree_result.png) maps word inference rates under various noise profiles, validating the collapse of BackTree.</a:t>
            </a:r>
          </a:p>
        </p:txBody>
      </p:sp>
      <p:pic>
        <p:nvPicPr>
          <p:cNvPr id="4" name="Picture 3" descr="simulatio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3749039" cy="1737360"/>
          </a:xfrm>
          <a:prstGeom prst="rect">
            <a:avLst/>
          </a:prstGeom>
        </p:spPr>
      </p:pic>
      <p:pic>
        <p:nvPicPr>
          <p:cNvPr id="5" name="Picture 4" descr="backtree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017520"/>
            <a:ext cx="3749039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38BDF8"/>
                </a:solidFill>
                <a:latin typeface="Calibri"/>
              </a:defRPr>
            </a:pPr>
            <a:r>
              <a:t>Conclusion &amp; Core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Side-Channel Vulnerability: </a:t>
            </a:r>
            <a:r>
              <a:rPr sz="1800" b="0">
                <a:solidFill>
                  <a:srgbClr val="F8FAFC"/>
                </a:solidFill>
                <a:latin typeface="Calibri"/>
              </a:rPr>
              <a:t>Proved that zero-permission head sensors leak text, posing a severe side-channel danger in virtual environments.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CASOM Framework: </a:t>
            </a:r>
            <a:r>
              <a:rPr sz="1800" b="0">
                <a:solidFill>
                  <a:srgbClr val="F8FAFC"/>
                </a:solidFill>
                <a:latin typeface="Calibri"/>
              </a:rPr>
              <a:t>Implemented and evaluated the Context-Aware Sensor Obfuscation Middleware (CASOM) inside a Python simulation environment.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Evaluation Honesty: </a:t>
            </a:r>
            <a:r>
              <a:rPr sz="1800" b="0">
                <a:solidFill>
                  <a:srgbClr val="F8FAFC"/>
                </a:solidFill>
                <a:latin typeface="Calibri"/>
              </a:rPr>
              <a:t>Disproved simple countermeasures (IID Noise and Drift) by evaluating them against the real BackTree attack.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Recommended Defense: </a:t>
            </a:r>
            <a:r>
              <a:rPr sz="1800" b="0">
                <a:solidFill>
                  <a:srgbClr val="10B981"/>
                </a:solidFill>
                <a:latin typeface="Calibri"/>
              </a:rPr>
              <a:t>Validated Block Offset Laplace Noise as a robust, highly secure, and deployable countermeasure that collapses attack success to ~3.6% while preserving 100% foreground user experience.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